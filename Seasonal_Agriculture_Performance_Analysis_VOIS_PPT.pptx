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113" d="100"/>
          <a:sy n="113" d="100"/>
        </p:scale>
        <p:origin x="390" y="10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21267" y="3583914"/>
            <a:ext cx="5706533" cy="767953"/>
          </a:xfrm>
        </p:spPr>
        <p:txBody>
          <a:bodyPr vert="horz" lIns="91440" tIns="45720" rIns="91440" bIns="45720" rtlCol="0" anchor="t">
            <a:normAutofit fontScale="85000" lnSpcReduction="10000"/>
          </a:bodyPr>
          <a:lstStyle/>
          <a:p>
            <a:r>
              <a:rPr lang="en-US" dirty="0">
                <a:solidFill>
                  <a:schemeClr val="tx1"/>
                </a:solidFill>
              </a:rPr>
              <a:t>Name : </a:t>
            </a:r>
            <a:r>
              <a:rPr lang="en-US" dirty="0" err="1">
                <a:solidFill>
                  <a:schemeClr val="tx1"/>
                </a:solidFill>
              </a:rPr>
              <a:t>A.Bheeshma</a:t>
            </a:r>
            <a:r>
              <a:rPr lang="en-US" dirty="0">
                <a:solidFill>
                  <a:schemeClr val="tx1"/>
                </a:solidFill>
              </a:rPr>
              <a:t> Shankar</a:t>
            </a:r>
          </a:p>
          <a:p>
            <a:r>
              <a:rPr lang="en-US" dirty="0" err="1">
                <a:solidFill>
                  <a:schemeClr val="tx1"/>
                </a:solidFill>
              </a:rPr>
              <a:t>Collge</a:t>
            </a:r>
            <a:r>
              <a:rPr lang="en-US" dirty="0">
                <a:solidFill>
                  <a:schemeClr val="tx1"/>
                </a:solidFill>
              </a:rPr>
              <a:t> : Chaitanya Bharathi Institute of Technology</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450000"/>
            <a:ext cx="7068636" cy="1200000"/>
          </a:xfrm>
        </p:spPr>
        <p:txBody>
          <a:bodyPr>
            <a:normAutofit/>
          </a:bodyPr>
          <a:lstStyle/>
          <a:p>
            <a:r>
              <a:rPr lang="en-GB" sz="2800" dirty="0"/>
              <a:t>Seasonal Agriculture Performance Analysis</a:t>
            </a:r>
            <a:endParaRPr lang="en-IN" sz="28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821267" y="4351867"/>
            <a:ext cx="5706533" cy="369332"/>
          </a:xfrm>
          <a:prstGeom prst="rect">
            <a:avLst/>
          </a:prstGeom>
          <a:noFill/>
        </p:spPr>
        <p:txBody>
          <a:bodyPr wrap="square" rtlCol="0">
            <a:spAutoFit/>
          </a:bodyPr>
          <a:lstStyle/>
          <a:p>
            <a:r>
              <a:rPr lang="en-US" b="1" dirty="0"/>
              <a:t>AICTE STU ID : STU6799a56ad83bf1738122602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470000"/>
            <a:ext cx="8000000" cy="700000"/>
          </a:xfrm>
        </p:spPr>
        <p:txBody>
          <a:bodyPr>
            <a:normAutofit fontScale="90000"/>
          </a:bodyPr>
          <a:lstStyle/>
          <a:p>
            <a:r>
              <a:rPr lang="en-GB" dirty="0"/>
              <a:t>Project Description</a:t>
            </a:r>
          </a:p>
        </p:txBody>
      </p:sp>
      <p:sp>
        <p:nvSpPr>
          <p:cNvPr id="20" name="Description Body"/>
          <p:cNvSpPr txBox="1"/>
          <p:nvPr/>
        </p:nvSpPr>
        <p:spPr>
          <a:xfrm>
            <a:off x="660399" y="1330000"/>
            <a:ext cx="5950000" cy="5100000"/>
          </a:xfrm>
          <a:prstGeom prst="rect">
            <a:avLst/>
          </a:prstGeom>
        </p:spPr>
        <p:txBody>
          <a:bodyPr wrap="square" lIns="0" tIns="0" rIns="0" bIns="0">
            <a:normAutofit/>
          </a:bodyPr>
          <a:lstStyle/>
          <a:p>
            <a:pPr marL="228600" indent="-228600">
              <a:lnSpc>
                <a:spcPct val="115000"/>
              </a:lnSpc>
              <a:spcAft>
                <a:spcPts val="700"/>
              </a:spcAft>
              <a:buFont typeface="Arial"/>
              <a:buChar char="•"/>
            </a:pPr>
            <a:r>
              <a:rPr lang="en-US" sz="1400" dirty="0">
                <a:solidFill>
                  <a:schemeClr val="tx1"/>
                </a:solidFill>
              </a:rPr>
              <a:t>This project analyzes 4,000 farm-level records spanning 8 Indian states, 8 major crops and 3 cropping seasons (Kharif, Rabi and Zaid) to understand how agricultural performance changes with the season.</a:t>
            </a:r>
          </a:p>
          <a:p>
            <a:pPr marL="228600" indent="-228600">
              <a:lnSpc>
                <a:spcPct val="115000"/>
              </a:lnSpc>
              <a:spcAft>
                <a:spcPts val="700"/>
              </a:spcAft>
              <a:buFont typeface="Arial"/>
              <a:buChar char="•"/>
            </a:pPr>
            <a:r>
              <a:rPr lang="en-US" sz="1400" dirty="0">
                <a:solidFill>
                  <a:schemeClr val="tx1"/>
                </a:solidFill>
              </a:rPr>
              <a:t>The raw dataset covers environmental conditions (rainfall, temperature, humidity, soil health), farming inputs (fertilizer, irrigation, pesticide) and economic outcomes (cost, revenue, profit) for every farm.</a:t>
            </a:r>
          </a:p>
          <a:p>
            <a:pPr marL="228600" indent="-228600">
              <a:lnSpc>
                <a:spcPct val="115000"/>
              </a:lnSpc>
              <a:spcAft>
                <a:spcPts val="700"/>
              </a:spcAft>
              <a:buFont typeface="Arial"/>
              <a:buChar char="•"/>
            </a:pPr>
            <a:r>
              <a:rPr lang="en-US" sz="1400" dirty="0">
                <a:solidFill>
                  <a:schemeClr val="tx1"/>
                </a:solidFill>
              </a:rPr>
              <a:t>The data was cleaned (duplicates and inconsistent entries removed) and explored using Python to compare yield, cost, revenue, profit, water efficiency and disease/pest risk across seasons.</a:t>
            </a:r>
          </a:p>
          <a:p>
            <a:pPr marL="228600" indent="-228600">
              <a:lnSpc>
                <a:spcPct val="115000"/>
              </a:lnSpc>
              <a:spcAft>
                <a:spcPts val="700"/>
              </a:spcAft>
              <a:buFont typeface="Arial"/>
              <a:buChar char="•"/>
            </a:pPr>
            <a:r>
              <a:rPr lang="en-US" sz="1400" dirty="0">
                <a:solidFill>
                  <a:schemeClr val="tx1"/>
                </a:solidFill>
              </a:rPr>
              <a:t>Statistical summaries, groupwise aggregation and visualizations were used to surface seasonal patterns and relationships between environmental conditions and farm profitability.</a:t>
            </a:r>
          </a:p>
          <a:p>
            <a:pPr marL="228600" indent="-228600">
              <a:lnSpc>
                <a:spcPct val="115000"/>
              </a:lnSpc>
              <a:spcAft>
                <a:spcPts val="700"/>
              </a:spcAft>
              <a:buFont typeface="Arial"/>
              <a:buChar char="•"/>
            </a:pPr>
            <a:r>
              <a:rPr lang="en-US" sz="1400" dirty="0">
                <a:solidFill>
                  <a:schemeClr val="tx1"/>
                </a:solidFill>
              </a:rPr>
              <a:t>The final output is a set of evidence-based insights and recommendations that can support seasonal agricultural planning and decision-making.</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450000" cy="4600000"/>
          </a:xfrm>
        </p:spPr>
        <p:txBody>
          <a:bodyPr>
            <a:normAutofit/>
          </a:bodyPr>
          <a:lstStyle/>
          <a:p>
            <a:pPr marL="285750" indent="-285750">
              <a:lnSpc>
                <a:spcPct val="118000"/>
              </a:lnSpc>
              <a:spcAft>
                <a:spcPts val="900"/>
              </a:spcAft>
              <a:buFont typeface="Arial"/>
              <a:buChar char="•"/>
            </a:pPr>
            <a:r>
              <a:rPr lang="en-US" sz="1700" dirty="0">
                <a:solidFill>
                  <a:schemeClr val="tx1"/>
                </a:solidFill>
              </a:rPr>
              <a:t>Farmers and farmer cooperatives — to choose crops and irrigation methods best suited to each season</a:t>
            </a:r>
          </a:p>
          <a:p>
            <a:pPr marL="285750" indent="-285750">
              <a:lnSpc>
                <a:spcPct val="118000"/>
              </a:lnSpc>
              <a:spcAft>
                <a:spcPts val="900"/>
              </a:spcAft>
              <a:buFont typeface="Arial"/>
              <a:buChar char="•"/>
            </a:pPr>
            <a:r>
              <a:rPr lang="en-US" sz="1700" dirty="0">
                <a:solidFill>
                  <a:schemeClr val="tx1"/>
                </a:solidFill>
              </a:rPr>
              <a:t>State agriculture departments and policymakers — for evidence-based seasonal planning</a:t>
            </a:r>
          </a:p>
          <a:p>
            <a:pPr marL="285750" indent="-285750">
              <a:lnSpc>
                <a:spcPct val="118000"/>
              </a:lnSpc>
              <a:spcAft>
                <a:spcPts val="900"/>
              </a:spcAft>
              <a:buFont typeface="Arial"/>
              <a:buChar char="•"/>
            </a:pPr>
            <a:r>
              <a:rPr lang="en-US" sz="1700" dirty="0">
                <a:solidFill>
                  <a:schemeClr val="tx1"/>
                </a:solidFill>
              </a:rPr>
              <a:t>Agri-business and supply chain companies — to plan procurement and pricing around seasonal output</a:t>
            </a:r>
          </a:p>
          <a:p>
            <a:pPr marL="285750" indent="-285750">
              <a:lnSpc>
                <a:spcPct val="118000"/>
              </a:lnSpc>
              <a:spcAft>
                <a:spcPts val="900"/>
              </a:spcAft>
              <a:buFont typeface="Arial"/>
              <a:buChar char="•"/>
            </a:pPr>
            <a:r>
              <a:rPr lang="en-US" sz="1700" dirty="0">
                <a:solidFill>
                  <a:schemeClr val="tx1"/>
                </a:solidFill>
              </a:rPr>
              <a:t>Agricultural researchers and academic institutions — studying seasonal and climatic impact on farming</a:t>
            </a:r>
          </a:p>
          <a:p>
            <a:pPr marL="285750" indent="-285750">
              <a:lnSpc>
                <a:spcPct val="118000"/>
              </a:lnSpc>
              <a:spcAft>
                <a:spcPts val="900"/>
              </a:spcAft>
              <a:buFont typeface="Arial"/>
              <a:buChar char="•"/>
            </a:pPr>
            <a:r>
              <a:rPr lang="en-US" sz="1700" dirty="0">
                <a:solidFill>
                  <a:schemeClr val="tx1"/>
                </a:solidFill>
              </a:rPr>
              <a:t>Crop insurance and lending institutions — to assess seasonal risk when designing products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17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050000" y="1432560"/>
            <a:ext cx="7400000" cy="5100000"/>
          </a:xfrm>
        </p:spPr>
        <p:txBody>
          <a:bodyPr>
            <a:normAutofit fontScale="92500" lnSpcReduction="10000"/>
          </a:bodyPr>
          <a:lstStyle/>
          <a:p>
            <a:pPr marL="285750" lvl="1" indent="-285750">
              <a:lnSpc>
                <a:spcPct val="140000"/>
              </a:lnSpc>
              <a:spcAft>
                <a:spcPts val="1200"/>
              </a:spcAft>
              <a:buFont typeface="Arial"/>
              <a:buChar char="•"/>
            </a:pPr>
            <a:r>
              <a:rPr lang="en-US" sz="1900" dirty="0">
                <a:solidFill>
                  <a:schemeClr val="tx1"/>
                </a:solidFill>
              </a:rPr>
              <a:t>Python — core language for data cleaning, analysis and automation</a:t>
            </a:r>
          </a:p>
          <a:p>
            <a:pPr marL="285750" lvl="1" indent="-285750">
              <a:lnSpc>
                <a:spcPct val="140000"/>
              </a:lnSpc>
              <a:spcAft>
                <a:spcPts val="1200"/>
              </a:spcAft>
              <a:buFont typeface="Arial"/>
              <a:buChar char="•"/>
            </a:pPr>
            <a:r>
              <a:rPr lang="en-US" sz="1900" dirty="0">
                <a:solidFill>
                  <a:schemeClr val="tx1"/>
                </a:solidFill>
              </a:rPr>
              <a:t>Pandas &amp; NumPy — data cleaning, transformation and seasonal aggregation</a:t>
            </a:r>
          </a:p>
          <a:p>
            <a:pPr marL="285750" lvl="1" indent="-285750">
              <a:lnSpc>
                <a:spcPct val="140000"/>
              </a:lnSpc>
              <a:spcAft>
                <a:spcPts val="1200"/>
              </a:spcAft>
              <a:buFont typeface="Arial"/>
              <a:buChar char="•"/>
            </a:pPr>
            <a:r>
              <a:rPr lang="en-US" sz="1900" dirty="0">
                <a:solidFill>
                  <a:schemeClr val="tx1"/>
                </a:solidFill>
              </a:rPr>
              <a:t>Matplotlib &amp; Seaborn — statistical charts and seasonal comparison visuals</a:t>
            </a:r>
          </a:p>
          <a:p>
            <a:pPr marL="285750" lvl="1" indent="-285750">
              <a:lnSpc>
                <a:spcPct val="140000"/>
              </a:lnSpc>
              <a:spcAft>
                <a:spcPts val="1200"/>
              </a:spcAft>
              <a:buFont typeface="Arial"/>
              <a:buChar char="•"/>
            </a:pPr>
            <a:r>
              <a:rPr lang="en-US" sz="1900" dirty="0">
                <a:solidFill>
                  <a:schemeClr val="tx1"/>
                </a:solidFill>
              </a:rPr>
              <a:t>Jupyter Notebook — end-to-end analysis, documentation and reporting environment</a:t>
            </a:r>
          </a:p>
          <a:p>
            <a:pPr marL="285750" lvl="1" indent="-285750">
              <a:lnSpc>
                <a:spcPct val="140000"/>
              </a:lnSpc>
              <a:spcAft>
                <a:spcPts val="1200"/>
              </a:spcAft>
              <a:buFont typeface="Arial"/>
              <a:buChar char="•"/>
            </a:pPr>
            <a:r>
              <a:rPr lang="en-US" sz="1900" dirty="0">
                <a:solidFill>
                  <a:schemeClr val="tx1"/>
                </a:solidFill>
              </a:rPr>
              <a:t>Statistical techniques — groupwise aggregation, correlation analysis and comparison across seasons</a:t>
            </a:r>
          </a:p>
          <a:p>
            <a:pPr marL="285750" lvl="1" indent="-285750">
              <a:lnSpc>
                <a:spcPct val="140000"/>
              </a:lnSpc>
              <a:spcAft>
                <a:spcPts val="1200"/>
              </a:spcAft>
              <a:buFont typeface="Arial"/>
              <a:buChar char="•"/>
            </a:pPr>
            <a:r>
              <a:rPr lang="en-US" sz="1900" dirty="0">
                <a:solidFill>
                  <a:schemeClr val="tx1"/>
                </a:solidFill>
              </a:rPr>
              <a:t>GitHub — version control and project submission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Caption"/>
          <p:cNvSpPr txBox="1"/>
          <p:nvPr/>
        </p:nvSpPr>
        <p:spPr>
          <a:xfrm>
            <a:off x="675957" y="1275371"/>
            <a:ext cx="10500000" cy="500000"/>
          </a:xfrm>
          <a:prstGeom prst="rect">
            <a:avLst/>
          </a:prstGeom>
        </p:spPr>
        <p:txBody>
          <a:bodyPr wrap="square" lIns="0" tIns="0" rIns="0" bIns="0">
            <a:normAutofit/>
          </a:bodyPr>
          <a:lstStyle/>
          <a:p>
            <a:r>
              <a:rPr lang="en-US" sz="1600" i="1" dirty="0">
                <a:solidFill>
                  <a:schemeClr val="tx1">
                    <a:lumMod val="65000"/>
                    <a:lumOff val="35000"/>
                  </a:schemeClr>
                </a:solidFill>
              </a:rPr>
              <a:t>Kharif farms lead on both yield and profit; Zaid farms average a net loss despite similar costs.</a:t>
            </a:r>
          </a:p>
        </p:txBody>
      </p:sp>
      <p:pic>
        <p:nvPicPr>
          <p:cNvPr id="12" name="NB Yield Season"/>
          <p:cNvPicPr>
            <a:picLocks noChangeAspect="1"/>
          </p:cNvPicPr>
          <p:nvPr/>
        </p:nvPicPr>
        <p:blipFill>
          <a:blip r:embed="rId3"/>
          <a:stretch>
            <a:fillRect/>
          </a:stretch>
        </p:blipFill>
        <p:spPr>
          <a:xfrm>
            <a:off x="750000" y="2150000"/>
            <a:ext cx="4900000" cy="3040000"/>
          </a:xfrm>
          <a:prstGeom prst="rect">
            <a:avLst/>
          </a:prstGeom>
        </p:spPr>
      </p:pic>
      <p:pic>
        <p:nvPicPr>
          <p:cNvPr id="13" name="NB Profit Season"/>
          <p:cNvPicPr>
            <a:picLocks noChangeAspect="1"/>
          </p:cNvPicPr>
          <p:nvPr/>
        </p:nvPicPr>
        <p:blipFill>
          <a:blip r:embed="rId4"/>
          <a:stretch>
            <a:fillRect/>
          </a:stretch>
        </p:blipFill>
        <p:spPr>
          <a:xfrm>
            <a:off x="5850000" y="2150000"/>
            <a:ext cx="4900000" cy="30400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7" y="1275371"/>
            <a:ext cx="10500000" cy="500000"/>
          </a:xfrm>
        </p:spPr>
        <p:txBody>
          <a:bodyPr wrap="square" lIns="0" tIns="0" rIns="0" bIns="0">
            <a:normAutofit/>
          </a:bodyPr>
          <a:lstStyle/>
          <a:p>
            <a:pPr marL="0" indent="0">
              <a:buNone/>
            </a:pPr>
            <a:r>
              <a:rPr lang="en-US" sz="1600" i="1" dirty="0">
                <a:solidFill>
                  <a:schemeClr val="tx1">
                    <a:lumMod val="65000"/>
                    <a:lumOff val="35000"/>
                  </a:schemeClr>
                </a:solidFill>
              </a:rPr>
              <a:t>Kharif is the wettest and among the coolest seasons; Zaid is the hottest and driest, straining the crop-water balance.</a:t>
            </a:r>
          </a:p>
        </p:txBody>
      </p:sp>
      <p:pic>
        <p:nvPicPr>
          <p:cNvPr id="20" name="NB Rainfall Season"/>
          <p:cNvPicPr>
            <a:picLocks noChangeAspect="1"/>
          </p:cNvPicPr>
          <p:nvPr/>
        </p:nvPicPr>
        <p:blipFill>
          <a:blip r:embed="rId3"/>
          <a:stretch>
            <a:fillRect/>
          </a:stretch>
        </p:blipFill>
        <p:spPr>
          <a:xfrm>
            <a:off x="750000" y="2150000"/>
            <a:ext cx="4900000" cy="3040000"/>
          </a:xfrm>
          <a:prstGeom prst="rect">
            <a:avLst/>
          </a:prstGeom>
        </p:spPr>
      </p:pic>
      <p:pic>
        <p:nvPicPr>
          <p:cNvPr id="21" name="NB Temp Season"/>
          <p:cNvPicPr>
            <a:picLocks noChangeAspect="1"/>
          </p:cNvPicPr>
          <p:nvPr/>
        </p:nvPicPr>
        <p:blipFill>
          <a:blip r:embed="rId4"/>
          <a:stretch>
            <a:fillRect/>
          </a:stretch>
        </p:blipFill>
        <p:spPr>
          <a:xfrm>
            <a:off x="5850000" y="2150000"/>
            <a:ext cx="4900000" cy="30400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7" y="1275371"/>
            <a:ext cx="10500000" cy="500000"/>
          </a:xfrm>
        </p:spPr>
        <p:txBody>
          <a:bodyPr wrap="square" lIns="0" tIns="0" rIns="0" bIns="0">
            <a:normAutofit/>
          </a:bodyPr>
          <a:lstStyle/>
          <a:p>
            <a:pPr marL="0" indent="0">
              <a:buNone/>
            </a:pPr>
            <a:r>
              <a:rPr lang="en-US" sz="1600" i="1" dirty="0">
                <a:solidFill>
                  <a:schemeClr val="tx1">
                    <a:lumMod val="65000"/>
                    <a:lumOff val="35000"/>
                  </a:schemeClr>
                </a:solidFill>
              </a:rPr>
              <a:t>Rabi and Zaid see more loss-making farms than profitable ones; Kharif is the only season with a clear profit majority.</a:t>
            </a:r>
          </a:p>
        </p:txBody>
      </p:sp>
      <p:pic>
        <p:nvPicPr>
          <p:cNvPr id="20" name="NB Profitability Status"/>
          <p:cNvPicPr>
            <a:picLocks noChangeAspect="1"/>
          </p:cNvPicPr>
          <p:nvPr/>
        </p:nvPicPr>
        <p:blipFill>
          <a:blip r:embed="rId3"/>
          <a:stretch>
            <a:fillRect/>
          </a:stretch>
        </p:blipFill>
        <p:spPr>
          <a:xfrm>
            <a:off x="2969000" y="2150000"/>
            <a:ext cx="6254000" cy="41500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1275371"/>
            <a:ext cx="10500000" cy="500000"/>
          </a:xfrm>
        </p:spPr>
        <p:txBody>
          <a:bodyPr wrap="square" lIns="0" tIns="0" rIns="0" bIns="0">
            <a:normAutofit/>
          </a:bodyPr>
          <a:lstStyle/>
          <a:p>
            <a:pPr marL="0" indent="0">
              <a:buNone/>
            </a:pPr>
            <a:r>
              <a:rPr lang="en-US" sz="1600" i="1" dirty="0">
                <a:solidFill>
                  <a:schemeClr val="tx1">
                    <a:lumMod val="65000"/>
                    <a:lumOff val="35000"/>
                  </a:schemeClr>
                </a:solidFill>
              </a:rPr>
              <a:t>Water-use efficiency and disease/pest risk both fall from Kharif to Zaid, tracking the seasonal drop in profitability.</a:t>
            </a:r>
          </a:p>
        </p:txBody>
      </p:sp>
      <p:pic>
        <p:nvPicPr>
          <p:cNvPr id="20" name="NB Water Efficiency"/>
          <p:cNvPicPr>
            <a:picLocks noChangeAspect="1"/>
          </p:cNvPicPr>
          <p:nvPr/>
        </p:nvPicPr>
        <p:blipFill>
          <a:blip r:embed="rId3"/>
          <a:stretch>
            <a:fillRect/>
          </a:stretch>
        </p:blipFill>
        <p:spPr>
          <a:xfrm>
            <a:off x="750000" y="2150000"/>
            <a:ext cx="4900000" cy="3040000"/>
          </a:xfrm>
          <a:prstGeom prst="rect">
            <a:avLst/>
          </a:prstGeom>
        </p:spPr>
      </p:pic>
      <p:pic>
        <p:nvPicPr>
          <p:cNvPr id="21" name="NB Disease Risk"/>
          <p:cNvPicPr>
            <a:picLocks noChangeAspect="1"/>
          </p:cNvPicPr>
          <p:nvPr/>
        </p:nvPicPr>
        <p:blipFill>
          <a:blip r:embed="rId4"/>
          <a:stretch>
            <a:fillRect/>
          </a:stretch>
        </p:blipFill>
        <p:spPr>
          <a:xfrm>
            <a:off x="5850000" y="2150000"/>
            <a:ext cx="4900000" cy="30400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75957" y="1275371"/>
            <a:ext cx="10500000" cy="500000"/>
          </a:xfrm>
        </p:spPr>
        <p:txBody>
          <a:bodyPr wrap="square" lIns="0" tIns="0" rIns="0" bIns="0">
            <a:normAutofit/>
          </a:bodyPr>
          <a:lstStyle/>
          <a:p>
            <a:pPr marL="0" indent="0">
              <a:buNone/>
            </a:pPr>
            <a:r>
              <a:rPr lang="en-US" sz="1600" i="1" dirty="0">
                <a:solidFill>
                  <a:schemeClr val="tx1">
                    <a:lumMod val="65000"/>
                    <a:lumOff val="35000"/>
                  </a:schemeClr>
                </a:solidFill>
              </a:rPr>
              <a:t>Sugarcane's per-hectare yield dwarfs every other crop, while grains and pulses all average well under 3 t/ha.</a:t>
            </a:r>
          </a:p>
        </p:txBody>
      </p:sp>
      <p:pic>
        <p:nvPicPr>
          <p:cNvPr id="20" name="NB Crop Yield"/>
          <p:cNvPicPr>
            <a:picLocks noChangeAspect="1"/>
          </p:cNvPicPr>
          <p:nvPr/>
        </p:nvPicPr>
        <p:blipFill>
          <a:blip r:embed="rId3"/>
          <a:stretch>
            <a:fillRect/>
          </a:stretch>
        </p:blipFill>
        <p:spPr>
          <a:xfrm>
            <a:off x="2846000" y="2150000"/>
            <a:ext cx="6500000" cy="3878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3200" dirty="0"/>
              <a:t>Future Scope</a:t>
            </a:r>
          </a:p>
        </p:txBody>
      </p:sp>
      <p:sp>
        <p:nvSpPr>
          <p:cNvPr id="21" name="Future Scope Body"/>
          <p:cNvSpPr txBox="1"/>
          <p:nvPr/>
        </p:nvSpPr>
        <p:spPr>
          <a:xfrm>
            <a:off x="720000" y="1201586"/>
            <a:ext cx="8450000" cy="5348414"/>
          </a:xfrm>
          <a:prstGeom prst="rect">
            <a:avLst/>
          </a:prstGeom>
        </p:spPr>
        <p:txBody>
          <a:bodyPr wrap="square" lIns="0" tIns="0" rIns="0" bIns="0">
            <a:normAutofit/>
          </a:bodyPr>
          <a:lstStyle/>
          <a:p>
            <a:pPr marL="285750" indent="-285750">
              <a:lnSpc>
                <a:spcPct val="140000"/>
              </a:lnSpc>
              <a:spcAft>
                <a:spcPts val="1200"/>
              </a:spcAft>
              <a:buFont typeface="Arial"/>
              <a:buChar char="•"/>
            </a:pPr>
            <a:r>
              <a:rPr lang="en-US" sz="1900" dirty="0">
                <a:solidFill>
                  <a:schemeClr val="tx1"/>
                </a:solidFill>
              </a:rPr>
              <a:t>Build a machine learning model to predict crop yield and profitability from seasonal and environmental inputs</a:t>
            </a:r>
          </a:p>
          <a:p>
            <a:pPr marL="285750" indent="-285750">
              <a:lnSpc>
                <a:spcPct val="140000"/>
              </a:lnSpc>
              <a:spcAft>
                <a:spcPts val="1200"/>
              </a:spcAft>
              <a:buFont typeface="Arial"/>
              <a:buChar char="•"/>
            </a:pPr>
            <a:r>
              <a:rPr lang="en-US" sz="1900" dirty="0">
                <a:solidFill>
                  <a:schemeClr val="tx1"/>
                </a:solidFill>
              </a:rPr>
              <a:t>Integrate real-time weather and market-price feeds for up-to-date seasonal recommendations</a:t>
            </a:r>
          </a:p>
          <a:p>
            <a:pPr marL="285750" indent="-285750">
              <a:lnSpc>
                <a:spcPct val="140000"/>
              </a:lnSpc>
              <a:spcAft>
                <a:spcPts val="1200"/>
              </a:spcAft>
              <a:buFont typeface="Arial"/>
              <a:buChar char="•"/>
            </a:pPr>
            <a:r>
              <a:rPr lang="en-US" sz="1900" dirty="0">
                <a:solidFill>
                  <a:schemeClr val="tx1"/>
                </a:solidFill>
              </a:rPr>
              <a:t>Develop a season- and crop-specific irrigation and fertilizer advisory system</a:t>
            </a:r>
          </a:p>
          <a:p>
            <a:pPr marL="285750" indent="-285750">
              <a:lnSpc>
                <a:spcPct val="140000"/>
              </a:lnSpc>
              <a:spcAft>
                <a:spcPts val="1200"/>
              </a:spcAft>
              <a:buFont typeface="Arial"/>
              <a:buChar char="•"/>
            </a:pPr>
            <a:r>
              <a:rPr lang="en-US" sz="1900" dirty="0">
                <a:solidFill>
                  <a:schemeClr val="tx1"/>
                </a:solidFill>
              </a:rPr>
              <a:t>Expand the dataset to more states, crops and multiple years to strengthen trend analysis</a:t>
            </a:r>
          </a:p>
          <a:p>
            <a:pPr marL="285750" indent="-285750">
              <a:lnSpc>
                <a:spcPct val="140000"/>
              </a:lnSpc>
              <a:spcAft>
                <a:spcPts val="1200"/>
              </a:spcAft>
              <a:buFont typeface="Arial"/>
              <a:buChar char="•"/>
            </a:pPr>
            <a:r>
              <a:rPr lang="en-US" sz="1900" dirty="0">
                <a:solidFill>
                  <a:schemeClr val="tx1"/>
                </a:solidFill>
              </a:rPr>
              <a:t>Build an interactive dashboard so farmers and policymakers can explore seasonal insights themselves</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04049"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830997"/>
          </a:xfrm>
          <a:prstGeom prst="rect">
            <a:avLst/>
          </a:prstGeom>
          <a:noFill/>
        </p:spPr>
        <p:txBody>
          <a:bodyPr wrap="square">
            <a:spAutoFit/>
          </a:bodyPr>
          <a:lstStyle/>
          <a:p>
            <a:r>
              <a:rPr lang="en-US" sz="2400" dirty="0"/>
              <a:t>https://github.com/Bheeshma2234/Seasonal-Agriculture-Performance-Analysis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6" y="370589"/>
            <a:ext cx="9458643" cy="1187278"/>
          </a:xfrm>
        </p:spPr>
        <p:txBody>
          <a:bodyPr>
            <a:normAutofit/>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0" name="Certificate"/>
          <p:cNvPicPr>
            <a:picLocks noChangeAspect="1"/>
          </p:cNvPicPr>
          <p:nvPr/>
        </p:nvPicPr>
        <p:blipFill>
          <a:blip r:embed="rId3"/>
          <a:stretch>
            <a:fillRect/>
          </a:stretch>
        </p:blipFill>
        <p:spPr>
          <a:xfrm>
            <a:off x="3014133" y="2100000"/>
            <a:ext cx="6375400" cy="3767400"/>
          </a:xfrm>
          <a:prstGeom prst="rect">
            <a:avLst/>
          </a:prstGeom>
          <a:ln w="12700">
            <a:solidFill>
              <a:schemeClr val="tx1">
                <a:lumMod val="35000"/>
                <a:lumOff val="65000"/>
              </a:schemeClr>
            </a:solidFill>
          </a:ln>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4294967295"/>
          </p:nvPr>
        </p:nvSpPr>
        <p:spPr>
          <a:xfrm>
            <a:off x="0" y="4641850"/>
            <a:ext cx="2139950" cy="110807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5" name="TextBox 4">
            <a:extLst>
              <a:ext uri="{FF2B5EF4-FFF2-40B4-BE49-F238E27FC236}">
                <a16:creationId xmlns:a16="http://schemas.microsoft.com/office/drawing/2014/main" id="{C73E53B3-E0F3-4B95-AAED-F0DBE143E85A}"/>
              </a:ext>
            </a:extLst>
          </p:cNvPr>
          <p:cNvSpPr txBox="1"/>
          <p:nvPr/>
        </p:nvSpPr>
        <p:spPr>
          <a:xfrm>
            <a:off x="1142999" y="1938867"/>
            <a:ext cx="9110133" cy="923330"/>
          </a:xfrm>
          <a:prstGeom prst="rect">
            <a:avLst/>
          </a:prstGeom>
          <a:noFill/>
        </p:spPr>
        <p:txBody>
          <a:bodyPr wrap="square" rtlCol="0">
            <a:spAutoFit/>
          </a:bodyPr>
          <a:lstStyle/>
          <a:p>
            <a:pPr algn="ctr"/>
            <a:r>
              <a:rPr lang="en-US" sz="5400" b="1" dirty="0">
                <a:solidFill>
                  <a:schemeClr val="tx1"/>
                </a:solidFill>
              </a:rPr>
              <a:t>Thank you</a:t>
            </a:r>
            <a:endParaRPr lang="en-US" sz="5400"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1364</TotalTime>
  <Words>605</Words>
  <Application>Microsoft Office PowerPoint</Application>
  <PresentationFormat>Widescreen</PresentationFormat>
  <Paragraphs>48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Bheeshma Shanker</cp:lastModifiedBy>
  <cp:revision>99</cp:revision>
  <dcterms:created xsi:type="dcterms:W3CDTF">2021-07-11T13:13:15Z</dcterms:created>
  <dcterms:modified xsi:type="dcterms:W3CDTF">2026-09-06T03:00:37Z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